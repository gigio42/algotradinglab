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9"/>
    <p:sldId id="257" r:id="rId10"/>
    <p:sldId id="258" r:id="rId8"/>
    <p:sldId id="259" r:id="rId6"/>
    <p:sldId id="260" r:id="rId5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7" d="100"/>
          <a:sy n="107" d="100"/>
        </p:scale>
        <p:origin x="16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média móvel responde só para que lado o preço parece ir e nada diz sobre o quanto ele pode oscilar. As crises voltam a acontecer: em março de 2020 o Ibovespa caiu 29,9% em um mês.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Objetivos específicos: aprofundar tendência e volatilidade; implementar ARIMA e GARCH em MQL5 e integrá-los em um robô; reproduzir a estratégia de Almeida (2016); comparar os três algoritmos por simulação, em diferentes períodos, incluindo crises.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Ligação com Almeida: a média móvel de 10 dá peso fixo de um décimo a cada preço; a parte AR do ARIMA é o mesmo tipo de filtro, com pesos estimados dos dados. Cuidado: o "MA" do ARIMA é média dos erros passados, não dos preços.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GARCH(1,1): sigma²(t) = omega + alfa·erro²(t-1) + beta·sigma²(t-1). Restrições: omega &gt; 0, alfa e beta não negativos e alfa + beta &lt; 1, para a volatilidade voltar a um nível de longo prazo.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Leitura da esquerda para a direita. Os mesmos preços alimentam os dois modelos: o ARIMA prevê o retorno e deixa os resíduos, que o GARCH usa para prever a volatilidade. Se a volatilidade prevista passa do limiar, a compra é vetada. No ajuste da posição, em vez de vetar, o tamanho da ordem é multiplicado por alvo ÷ volatilidade prevista. Com o GARCH desligado, o ramo de baixo não existe e o robô sempre opera na direção do ARIMA.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Quase experimento porque a série histórica de um ativo é única e não pode ser sorteada. Os dados vieram do COTAHIST da B3, e não da corretora, que só tem cotações desde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Assim, qualquer diferença entre as duas versões só pode vir do GARCH.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limite de 240 pregões decorreu da forma como os testes foram montados: iniciado na data do período, o testador entrega histórico desde 1º de janeiro do ano anterior, cerca de 250 pregões.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 volatilidade prevista dobra, a posição cai pela metade. A grade também testou manter ou encerrar a posição aberta quando a operação é vetada.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Escolher no mesmo período em que se mede daria vantagem falsa; por isso a escolha segue o teste avançado (forward) do testador. Sharpe: ganho por unidade de oscilação. Calmar: ganho por unidade de queda máxima. Condições: R$ 100 mil, 95% do patrimônio, só 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Mesmas datas, R$ 50 mil, médias de 10 e 20, sem custos. O código segue o algoritmo publicado por Almeida; as diferenças vêm do histórico de preços. A hipótese de 2008 não pode ser conferida.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queda máxima é a maior perda do topo ao fundo. O ARIMA-GARCH Calmar de 2017–2024 é o único escolhido em que o veto não encerra a posição, e por isso caiu como o ARIMA.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médias móveis lideraram em 2013–2016 (ganharam 194,5% em 2016). O ARIMA-GARCH Sharpe liderou em 2017–2024. Em 2025–2026, as versões com GARCH foram as únicas com perda.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todos os meses de 2008, o ARIMA-GARCH manteve aplicada uma parte menor do patrimônio que o ARIMA. Em outubro, quando a ação caiu 32,8%, ficou inteiramente fora do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Recorte do teste de 2017 a 2024. As médias móveis protegeram de forma parecida e renderam mais (+28,2%). Em 3 de abril, o ARIMA previa alta de 2,66%, mas o GARCH previu volatilidade de 7,58%, cerca de três vezes o limiar de 2,54%, e a compra foi vetada.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o GARCH não fizesse diferença, ganharia em cerca de metade das comparações. Em 2017–2024 o ARIMA-GARCH Sharpe vetou 657 dos 1.983 sinais do ARIMA e aplicou em média 43,9% do patrimônio, contra 62,3% sem o GARCH.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Responde à sugestão de Almeida: trocar o indicador de direção não basta para reduzir o risco. Com o GARCH, o algoritmo oscilou menos que as médias móveis em todos os períodos.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Limitações: diferenças de retorno não se repetiram entre períodos; quatro ativos de um único mercado; janelas de até 240 pregões; comparação principal sem custos e sem proventos; simulação com execução no preço de abertura, sem liquidez nem diferença de preço executado.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5349132-F051-0984-6CE4-D856D17636D0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15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B8DC7F0-24C2-EB72-8980-2859399815D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31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BA24E9F-281B-A298-CC21-63215A5C8946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9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E741214D-8D0B-DB79-8F05-683CFE1A40A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2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4">
            <a:extLst>
              <a:ext uri="{FF2B5EF4-FFF2-40B4-BE49-F238E27FC236}">
                <a16:creationId xmlns:a16="http://schemas.microsoft.com/office/drawing/2014/main" id="{04A29A15-B535-1AC8-F04F-1C9878D8AE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8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ED4A04B-A88C-DD9F-3700-7ADCAD69A033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0" y="-72025"/>
            <a:ext cx="12448087" cy="70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6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75D73C-BE35-7549-42E1-5D9E00A2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D75354-D92E-759F-EB95-EA6A3D1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0C9B63-2088-780D-5EEF-CEFCEA9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18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3B80F-CE96-374E-F609-B178D6F9F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302E80-2797-16F6-F310-8108A39CB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DBAD53-8AF4-3E74-E076-FDC9BFF43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61DD9D-AD98-CB2F-65D8-229B0E57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D60E72-31CE-5C56-1070-77DD2BE8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D9B32C-A9A0-12FE-91C4-0C873A4E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13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18A12-B0E0-9375-458D-9267E326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0223EF-4637-AE52-66FD-0B27FCE477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FB2EF2-C125-54D2-1EF5-8B587C10B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F268DF-3392-5D1A-B617-C118D1BCA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D4D19D-D86C-7E95-8989-0B51839C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5DB2E8-794B-5FDB-723E-C286C96F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408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69FD5-1408-B146-F41A-7C464980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83778-6031-12E0-4A07-CBF2681A4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C01548-9CF7-E27D-28E9-190ACA1E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1DE872-06DE-0891-6104-2C8CCB21B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753A42-6E7F-D3AA-A205-189E46963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837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A56E90-9FFF-9104-10E3-4A374B0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784915-D823-2638-AD71-7BE2C3DAA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925646-14F1-A79B-C4B7-71D61B39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F9D2AD-8FC9-ED34-2D45-8926881A4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1F3C3A-42F8-C8D7-9F85-D949F213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359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8D8E16A-843B-9F07-C81D-C3E010FA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5E835F-5A82-DB76-4ECB-A01FB7A7A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8A22A5-8C49-7A6B-427A-A68F3D0F0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C47D3-7C66-3C4A-8E33-4B9A2E70701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53BB03-F987-528F-0416-7441FEB3A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71A7A-72B7-3512-1062-B3436AB47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5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85800"/>
            <a:ext cx="7498079" cy="228600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Desenvolvimento e comparação de modelos de negociação algorítmica: ARIMA-GARCH e médias móveis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0"/>
            <a:ext cx="7498079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Alunos: Bruno Rocha Pereira e Giovanni Silva Loose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Orientadora: Profa. Simone Mendes da Silva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Novembro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Introdução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Capítulo I – Fundamentação teórica</a:t>
            </a:r>
          </a:p>
          <a:p>
            <a:pPr marL="742950" indent="-285750"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595959"/>
                </a:solidFill>
                <a:latin typeface="Arial"/>
              </a:rPr>
              <a:t>Médias móveis, ARIMA, GARCH e trabalhos relacionados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Capítulo II – Percurso metodológico</a:t>
            </a:r>
          </a:p>
          <a:p>
            <a:pPr marL="742950" indent="-285750"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595959"/>
                </a:solidFill>
                <a:latin typeface="Arial"/>
              </a:rPr>
              <a:t>Natureza da pesquisa, implementação e plano experimental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Capítulo III – Análise e discussão dos dados</a:t>
            </a:r>
          </a:p>
          <a:p>
            <a:pPr marL="742950" indent="-285750"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595959"/>
                </a:solidFill>
                <a:latin typeface="Arial"/>
              </a:rPr>
              <a:t>Reprodução de Almeida (2016) e resultados por período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Considerações finais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Referências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Contexto e relevância da pesquisa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Continuidade do trabalho de Almeida (2016), na Fatec Indaiatuba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Robô de médias móveis para a PETR4 no MetaTrader 5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Lucro em 2013–2016 e prejuízo em 2007–2011, período da crise de 2008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O autor sugeriu investigar modelos de volatilidade, como o GARCH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4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Problema de pesquisa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Em que medida a integração dos modelos ARIMA e GARCH em um único algoritmo de negociação altera o desempenho e o risco das operações, em comparação com o ARIMA isolado e com uma estratégia de cruzamento de médias móveis?</a:t>
            </a:r>
          </a:p>
          <a:p>
            <a:pPr>
              <a:spcBef>
                <a:spcPts val="800"/>
              </a:spcBef>
              <a:spcAft>
                <a:spcPts val="14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Objetivo da pesquisa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Desenvolver, em MQL5, um Expert Advisor que integra os modelos ARIMA e GARCH e avaliar o efeito do GARCH sobre o desempenho e o risco das operações, em comparação com o ARIMA isolado e com a estratégia de Almeida (2016).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6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Hipóteses</a:t>
            </a:r>
          </a:p>
          <a:p>
            <a:pPr marL="342900" indent="-342900">
              <a:spcAft>
                <a:spcPts val="16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H1: a integração entre ARIMA e GARCH gera sinais mais eficazes, em acerto direcional e em adequação ao risco, do que o ARIMA isolado</a:t>
            </a:r>
          </a:p>
          <a:p>
            <a:pPr marL="342900" indent="-342900">
              <a:spcAft>
                <a:spcPts val="16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H2: a combinação representa um avanço em relação às análises baseadas em médias móveis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 – 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Médias móveis</a:t>
            </a:r>
          </a:p>
        </p:txBody>
      </p:sp>
      <p:pic>
        <p:nvPicPr>
          <p:cNvPr id="4" name="Picture 3" descr="fig04-cruzamento-med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7451"/>
            <a:ext cx="5852160" cy="3188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240280"/>
            <a:ext cx="4663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Preço médio dos últimos n pregões, recalculado a cada dia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Média curta reage rápido; média longa filtra o ruído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O cruzamento das duas é o sinal de compra ou de venda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Almeida (2016) usou as médias de 10 e 20 pregões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Fonte: elaboração própria com dados e interface do MetaTrader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 – 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ARIMA: a direção</a:t>
            </a:r>
          </a:p>
        </p:txBody>
      </p:sp>
      <p:pic>
        <p:nvPicPr>
          <p:cNvPr id="4" name="Picture 3" descr="fig05-fluxo-ari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89" y="2057400"/>
            <a:ext cx="4265060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2240280"/>
            <a:ext cx="530352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Prevê o retorno do pregão seguinte a partir dos valores e erros passados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Teste ADF define d; critério AIC escolhe p e q, de 0 a 4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Coeficientes estimados pelo método de Hannan e Rissanen (1982)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O sinal da previsão indica compra ou venda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Fonte: elaboração própria.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 – 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GARCH: o risco</a:t>
            </a:r>
          </a:p>
        </p:txBody>
      </p:sp>
      <p:pic>
        <p:nvPicPr>
          <p:cNvPr id="4" name="Picture 3" descr="fig06-fluxo-g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978" y="2011680"/>
            <a:ext cx="6383562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617720"/>
            <a:ext cx="107899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volatilidade não é constante: vem em ondas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de hoje depende do choque de ontem (α) e da volatilidade de ontem (β)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Não indica direção, só o tamanho da oscilação esperada (Bollerslev, 1986)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 – 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ARIMA-GARCH: os dois juntos</a:t>
            </a:r>
          </a:p>
        </p:txBody>
      </p:sp>
      <p:pic>
        <p:nvPicPr>
          <p:cNvPr id="4" name="Picture 3" descr="diag_arima_g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8" y="1965960"/>
            <a:ext cx="10449182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Arial"/>
              </a:rPr>
              <a:t>O ARIMA decide para onde ir. O GARCH decide se vale a pena operar.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 – 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Trabalhos relacionados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240280"/>
          <a:ext cx="10789920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1463040"/>
                <a:gridCol w="603504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A1A1A"/>
                          </a:solidFill>
                          <a:latin typeface="Arial"/>
                        </a:rPr>
                        <a:t>Estudo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A1A1A"/>
                          </a:solidFill>
                          <a:latin typeface="Arial"/>
                        </a:rPr>
                        <a:t>Ativo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A1A1A"/>
                          </a:solidFill>
                          <a:latin typeface="Arial"/>
                        </a:rPr>
                        <a:t>Método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Almeida (2016)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PETR4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Cruzamento de médias móveis (10 e 20)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Batista (2024)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BBAS3F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Combinação de três indicadores técnicos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Xing et al. (2024)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NVIDIA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ARIMA e ARIMA-GARCH, comparados a redes neurais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Araya, Aduda e Berhane (2024)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Apple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Resíduos do SARIMA como entrada do GARCH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Este trabalho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PETR4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ARIMA e ARIMA-GARCH, comparados às médias móveis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II – Percurso metodológico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Natureza da pesquisa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Pesquisa aplicada e explicativa, com análise quantitativa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Delineamento quase experimental (Wazlawick, 2021)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Amostra: PETR4, cotações diárias oficiais da B3, de 2003 a 2026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Verificação em outras três ações: VALE3, USIM5 e POMO4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II – Percurso metodológico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Implementação do robô</a:t>
            </a:r>
          </a:p>
        </p:txBody>
      </p:sp>
      <p:pic>
        <p:nvPicPr>
          <p:cNvPr id="4" name="Picture 3" descr="fig02-fluxograma-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90" y="2057400"/>
            <a:ext cx="317961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2240280"/>
            <a:ext cx="676656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Um único robô em MQL5, com o GARCH ligado ou desligado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Desligado, percorre a mesma previsão e a mesma execução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Rotinas numéricas da ALGLIB, que acompanha o MetaTrader 5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Simulações no testador de estratégias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Fonte: elaboração própria.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II – Percurso metodológico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Janela de estimação</a:t>
            </a:r>
          </a:p>
        </p:txBody>
      </p:sp>
      <p:pic>
        <p:nvPicPr>
          <p:cNvPr id="4" name="Picture 3" descr="diag_jane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047" y="2057400"/>
            <a:ext cx="8165425" cy="3428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Arial"/>
              </a:rPr>
              <a:t>A janela nunca inclui o pregão em andamento.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II – Percurso metodológico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Uso do GARCH na decisão</a:t>
            </a:r>
          </a:p>
        </p:txBody>
      </p:sp>
      <p:pic>
        <p:nvPicPr>
          <p:cNvPr id="4" name="Picture 3" descr="diag_uso_g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960" y="2011680"/>
            <a:ext cx="664560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7607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Ajuste do tamanho da posição: volatility targeting (Harvey et al., 2018).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II – Percurso metodológico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Plano experimental</a:t>
            </a:r>
          </a:p>
        </p:txBody>
      </p:sp>
      <p:pic>
        <p:nvPicPr>
          <p:cNvPr id="4" name="Picture 3" descr="diag_pl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33" y="2011680"/>
            <a:ext cx="9367252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6235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Arial"/>
              </a:rPr>
              <a:t>Comparados: ARIMA-GARCH, o mesmo ARIMA sem GARCH, médias móveis e a PETR4.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III – Análise e discussão dos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Reprodução dos testes de Almeida (2016)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240280"/>
          <a:ext cx="1078992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743200"/>
                <a:gridCol w="2834640"/>
                <a:gridCol w="28346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1A1A1A"/>
                          </a:solidFill>
                          <a:latin typeface="Arial"/>
                        </a:rPr>
                        <a:t>Período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>
                          <a:solidFill>
                            <a:srgbClr val="1A1A1A"/>
                          </a:solidFill>
                          <a:latin typeface="Arial"/>
                        </a:rPr>
                        <a:t>Almeida (2016)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>
                          <a:solidFill>
                            <a:srgbClr val="1A1A1A"/>
                          </a:solidFill>
                          <a:latin typeface="Arial"/>
                        </a:rPr>
                        <a:t>Série deste trabalho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>
                          <a:solidFill>
                            <a:srgbClr val="1A1A1A"/>
                          </a:solidFill>
                          <a:latin typeface="Arial"/>
                        </a:rPr>
                        <a:t>Histórico desde 2008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2013 a 2016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+R$ 10.430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+R$ 10.050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+R$ 10.050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2008 a 2010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−R$ 1.595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−R$ 575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−R$ 1.482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2007 a 2011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−R$ 2.542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−R$ 1.274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−R$ 2.530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617720"/>
            <a:ext cx="107899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Em 2013–2016, a reprodução ficou a uma operação do original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última coluna testa a hipótese de que o histórico do autor começava em 2008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III – Análise e discussão dos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Queda máxima por período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240280"/>
          <a:ext cx="1078992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1691640"/>
                <a:gridCol w="1463040"/>
                <a:gridCol w="2103120"/>
                <a:gridCol w="2103120"/>
                <a:gridCol w="16002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1A1A"/>
                          </a:solidFill>
                          <a:latin typeface="Arial"/>
                        </a:rPr>
                        <a:t>Período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>
                          <a:solidFill>
                            <a:srgbClr val="1A1A1A"/>
                          </a:solidFill>
                          <a:latin typeface="Arial"/>
                        </a:rPr>
                        <a:t>Médias móveis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>
                          <a:solidFill>
                            <a:srgbClr val="1A1A1A"/>
                          </a:solidFill>
                          <a:latin typeface="Arial"/>
                        </a:rPr>
                        <a:t>ARIMA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>
                          <a:solidFill>
                            <a:srgbClr val="1A1A1A"/>
                          </a:solidFill>
                          <a:latin typeface="Arial"/>
                        </a:rPr>
                        <a:t>ARIMA-GARCH Sharpe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>
                          <a:solidFill>
                            <a:srgbClr val="1A1A1A"/>
                          </a:solidFill>
                          <a:latin typeface="Arial"/>
                        </a:rPr>
                        <a:t>ARIMA-GARCH Calmar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>
                          <a:solidFill>
                            <a:srgbClr val="1A1A1A"/>
                          </a:solidFill>
                          <a:latin typeface="Arial"/>
                        </a:rPr>
                        <a:t>PETR4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2007 a 2011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64,6%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67,2%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2013 a 2016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2017 a 2024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37,9%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64,2%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2025 a 2026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25780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Arial"/>
              </a:rPr>
              <a:t>Em todos os períodos, a menor queda máxima foi de uma versão com GARCH.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Resultado bruto. Em 2007–2011, os dois critérios escolheram a mesma configuração.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III – Análise e discussão dos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Retorno por período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240280"/>
          <a:ext cx="1078992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1691640"/>
                <a:gridCol w="1463040"/>
                <a:gridCol w="2103120"/>
                <a:gridCol w="2103120"/>
                <a:gridCol w="16002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1A1A"/>
                          </a:solidFill>
                          <a:latin typeface="Arial"/>
                        </a:rPr>
                        <a:t>Período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>
                          <a:solidFill>
                            <a:srgbClr val="1A1A1A"/>
                          </a:solidFill>
                          <a:latin typeface="Arial"/>
                        </a:rPr>
                        <a:t>Médias móveis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>
                          <a:solidFill>
                            <a:srgbClr val="1A1A1A"/>
                          </a:solidFill>
                          <a:latin typeface="Arial"/>
                        </a:rPr>
                        <a:t>ARIMA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>
                          <a:solidFill>
                            <a:srgbClr val="1A1A1A"/>
                          </a:solidFill>
                          <a:latin typeface="Arial"/>
                        </a:rPr>
                        <a:t>ARIMA-GARCH Sharpe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>
                          <a:solidFill>
                            <a:srgbClr val="1A1A1A"/>
                          </a:solidFill>
                          <a:latin typeface="Arial"/>
                        </a:rPr>
                        <a:t>ARIMA-GARCH Calmar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>
                          <a:solidFill>
                            <a:srgbClr val="1A1A1A"/>
                          </a:solidFill>
                          <a:latin typeface="Arial"/>
                        </a:rPr>
                        <a:t>PETR4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2007 a 2011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−31,6%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−12,7%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−8,4%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−8,4%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−14,0%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2013 a 2016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+100,8%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−35,8%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−13,8%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−6,8%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−25,6%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2017 a 2024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+47,8%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+95,7%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+199,5%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+143,6%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2025 a 2026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−13,7%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−7,4%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>
                          <a:solidFill>
                            <a:srgbClr val="1A1A1A"/>
                          </a:solidFill>
                          <a:latin typeface="Arial"/>
                        </a:rPr>
                        <a:t>+33,2%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A1A1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25780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Arial"/>
              </a:rPr>
              <a:t>No retorno, não houve vantagem consistente: cada robô liderou em um período.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Resultado bruto. A PETR4 é medida pela variação do preço.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III – Análise e discussão dos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A crise de 2008</a:t>
            </a:r>
          </a:p>
        </p:txBody>
      </p:sp>
      <p:pic>
        <p:nvPicPr>
          <p:cNvPr id="4" name="Picture 3" descr="curva_2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2075"/>
            <a:ext cx="7223760" cy="3371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2240280"/>
            <a:ext cx="329184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Retorno em 2008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PETR4: −47,3%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Médias móveis: −40,7%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ARIMA: −27,1%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ARIMA-GARCH: −4,4%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Patrimônio e queda acumulada em 2008, resultado bruto. Fonte: elaboração própria.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III – Análise e discussão dos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A pandemia, em 2020</a:t>
            </a:r>
          </a:p>
        </p:txBody>
      </p:sp>
      <p:pic>
        <p:nvPicPr>
          <p:cNvPr id="4" name="Picture 3" descr="curva_2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9678"/>
            <a:ext cx="7223760" cy="33558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2148840"/>
            <a:ext cx="34290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Queda máxima no ano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PETR4: 64,2%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Médias móveis: 19,1%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ARIMA: 23,3%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ARIMA-GARCH Sharpe: 20,3%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ARIMA-GARCH Calmar: 37,7%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Patrimônio e queda acumulada em 2020, resultado bruto. Fonte: elaboração própria.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Capítulo III – Análise e discussão dos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O efeito vem do GARCH?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Cada versão comparada com a mesma configuração sem o GARCH, em 11 comparações: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Menor volatilidade e menor queda máxima em todas as 11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Retorno maior em 7 das 11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Taxa de acerto entre 41% e 59%, próxima do acaso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A proteção vem de ficar menos tempo exposto ao mercado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Considerações finais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Resposta ao problema de pesquisa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O GARCH tornou o robô mais seguro, mas não melhorou a previsão da direção.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H1 parcialmente confirmada: menor risco, sem melhora no acerto direcional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H2 confirmada quanto ao risco; no retorno, sem vantagem consistente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Objetivos alcançados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Considerações finais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Trabalhos futuros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Testar em mais ativos e em conta de demonstração, em tempo real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Testar janelas maiores e a janela expansiva (Xing et al., 2024)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Substituir o GARCH por uma versão assimétrica, como o EGARCH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Arial"/>
              </a:rPr>
              <a:t>Substituir o ARIMA por uma rede LSTM, mantendo o GARCH como filtro de risco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ALMEIDA, F. L. R. </a:t>
            </a:r>
            <a:r>
              <a:rPr sz="1400" b="0" i="1">
                <a:solidFill>
                  <a:srgbClr val="1A1A1A"/>
                </a:solidFill>
                <a:latin typeface="Arial"/>
              </a:rPr>
              <a:t>Técnicas de previsão da bolsa com MetaTrader 5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Monografia (Graduação em Tecnologia em Banco de Dados) – Faculdade de Tecnologia de Indaiatuba, Indaiatuba, 2016. Disponível em: &lt;https://ric.cps.sp.gov.br/handle/123456789/24287&gt;. Acesso em: 20 fev. 2025.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ARAYA, H. T.; ADUDA, J.; BERHANE, T. A hybrid GARCH and deep learning method for volatility prediction. </a:t>
            </a:r>
            <a:r>
              <a:rPr sz="1400" b="0" i="1">
                <a:solidFill>
                  <a:srgbClr val="1A1A1A"/>
                </a:solidFill>
                <a:latin typeface="Arial"/>
              </a:rPr>
              <a:t>Journal of Applied Mathematics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Londres, Reino Unido, v. 2024, 2024. Article ID 6305525.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B3. </a:t>
            </a:r>
            <a:r>
              <a:rPr sz="1400" b="0" i="1">
                <a:solidFill>
                  <a:srgbClr val="1A1A1A"/>
                </a:solidFill>
                <a:latin typeface="Arial"/>
              </a:rPr>
              <a:t>Séries históricas de cotações (COTAHIST)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arquivos anuais de 2003 a 2026. São Paulo, 2026. Disponível em: &lt;https://bvmf.bmfbovespa.com.br/InstDados/SerHist/&gt;. Acesso em: 21 set. 2026.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BATISTA, C. B. </a:t>
            </a:r>
            <a:r>
              <a:rPr sz="1400" b="0" i="1">
                <a:solidFill>
                  <a:srgbClr val="1A1A1A"/>
                </a:solidFill>
                <a:latin typeface="Arial"/>
              </a:rPr>
              <a:t>Desenvolvimento de robô para automação de investimentos na bolsa de valores utilizando indicadores técnicos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Monografia (Graduação em Engenharia de Computação) – Pontifícia Universidade Católica de Goiás, Goiânia, 2024. Disponível em: &lt;https://repositorio.pucgoias.edu.br/jspui/handle/123456789/8073&gt;. Acesso em: 30 mar. 2025.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BOLLERSLEV, T. Generalized autoregressive conditional heteroskedasticity. </a:t>
            </a:r>
            <a:r>
              <a:rPr sz="1400" b="0" i="1">
                <a:solidFill>
                  <a:srgbClr val="1A1A1A"/>
                </a:solidFill>
                <a:latin typeface="Arial"/>
              </a:rPr>
              <a:t>Journal of Econometrics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Elsevier, Amsterdam, v. 31, n. 3, p. 307–327, 1986.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Verdana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HANNAN, E. J.; RISSANEN, J. Recursive estimation of mixed autoregressive-moving average order. </a:t>
            </a:r>
            <a:r>
              <a:rPr sz="1400" b="0" i="1">
                <a:solidFill>
                  <a:srgbClr val="1A1A1A"/>
                </a:solidFill>
                <a:latin typeface="Arial"/>
              </a:rPr>
              <a:t>Biometrika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v. 69, n. 1, p. 81–94, 1982.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HARVEY, C. R. et al. The impact of volatility targeting. </a:t>
            </a:r>
            <a:r>
              <a:rPr sz="1400" b="0" i="1">
                <a:solidFill>
                  <a:srgbClr val="1A1A1A"/>
                </a:solidFill>
                <a:latin typeface="Arial"/>
              </a:rPr>
              <a:t>The Journal of Portfolio Management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v. 45, n. 1, p. 14–33, 2018.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WAZLAWICK, R. S. </a:t>
            </a:r>
            <a:r>
              <a:rPr sz="1400" b="0" i="1">
                <a:solidFill>
                  <a:srgbClr val="1A1A1A"/>
                </a:solidFill>
                <a:latin typeface="Arial"/>
              </a:rPr>
              <a:t>Metodologia de pesquisa para ciência da computação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3. ed. Rio de Janeiro: LTC, 2021.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XING, Y. et al. </a:t>
            </a:r>
            <a:r>
              <a:rPr sz="1400" b="0" i="1">
                <a:solidFill>
                  <a:srgbClr val="1A1A1A"/>
                </a:solidFill>
                <a:latin typeface="Arial"/>
              </a:rPr>
              <a:t>Predicting NVIDIA’s next-day stock price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a comparative analysis of LSTM, MLP, ARIMA, and ARIMA-GARCH models. 2024. ArXiv. Preprint. Disponível em: &lt;https://arxiv.org/abs/2405.08284&gt;. Acesso em: 09 abr. 2025.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160520"/>
            <a:ext cx="944575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Verdana"/>
              </a:rP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983480"/>
            <a:ext cx="944575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0" i="0">
                <a:solidFill>
                  <a:srgbClr val="595959"/>
                </a:solidFill>
                <a:latin typeface="Arial"/>
              </a:rPr>
              <a:t>Bruno Rocha Pereira e Giovanni Silva Loose</a:t>
            </a:r>
          </a:p>
          <a:p>
            <a:pPr algn="ctr"/>
            <a:r>
              <a:rPr sz="1600" b="0" i="0">
                <a:solidFill>
                  <a:srgbClr val="595959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589B0FF50EEEE42992490B27E3F321C" ma:contentTypeVersion="15" ma:contentTypeDescription="Crie um novo documento." ma:contentTypeScope="" ma:versionID="55f963d6fb16ff22f7c8b887fbd3418a">
  <xsd:schema xmlns:xsd="http://www.w3.org/2001/XMLSchema" xmlns:xs="http://www.w3.org/2001/XMLSchema" xmlns:p="http://schemas.microsoft.com/office/2006/metadata/properties" xmlns:ns2="33a72eb7-7584-48bf-b008-1d13f1023413" xmlns:ns3="88ac7d42-e496-4e2c-8569-72af69d93c5c" targetNamespace="http://schemas.microsoft.com/office/2006/metadata/properties" ma:root="true" ma:fieldsID="5c12381349619f8055d29c9e944d7f8e" ns2:_="" ns3:_="">
    <xsd:import namespace="33a72eb7-7584-48bf-b008-1d13f1023413"/>
    <xsd:import namespace="88ac7d42-e496-4e2c-8569-72af69d93c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_Flow_SignoffStatu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a72eb7-7584-48bf-b008-1d13f10234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2dab9438-f903-450b-a158-c86bb4a35d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20" nillable="true" ma:displayName="Status de liberação" ma:internalName="_x0024_Resources_x003a_core_x002c_Signoff_Status">
      <xsd:simpleType>
        <xsd:restriction base="dms:Text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7d42-e496-4e2c-8569-72af69d93c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541d3ab-305e-4232-8286-3bf7fd19c279}" ma:internalName="TaxCatchAll" ma:showField="CatchAllData" ma:web="88ac7d42-e496-4e2c-8569-72af69d93c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ac7d42-e496-4e2c-8569-72af69d93c5c" xsi:nil="true"/>
    <_Flow_SignoffStatus xmlns="33a72eb7-7584-48bf-b008-1d13f1023413" xsi:nil="true"/>
    <lcf76f155ced4ddcb4097134ff3c332f xmlns="33a72eb7-7584-48bf-b008-1d13f102341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CC8C436-96F6-4FD0-8A9C-BE16DD9141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876A29-CBF0-409D-B201-422C484291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a72eb7-7584-48bf-b008-1d13f1023413"/>
    <ds:schemaRef ds:uri="88ac7d42-e496-4e2c-8569-72af69d93c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EE44988-61DF-4154-850D-469585E8C894}">
  <ds:schemaRefs>
    <ds:schemaRef ds:uri="http://schemas.microsoft.com/office/2006/metadata/properties"/>
    <ds:schemaRef ds:uri="http://schemas.microsoft.com/office/infopath/2007/PartnerControls"/>
    <ds:schemaRef ds:uri="88ac7d42-e496-4e2c-8569-72af69d93c5c"/>
    <ds:schemaRef ds:uri="33a72eb7-7584-48bf-b008-1d13f102341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</Words>
  <Application>Microsoft Macintosh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Verdana</vt:lpstr>
      <vt:lpstr>Tema do Office</vt:lpstr>
      <vt:lpstr>Tema da  apresentação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Alves Pereira</dc:creator>
  <cp:lastModifiedBy>Marta Maria M Almeida</cp:lastModifiedBy>
  <cp:revision>3</cp:revision>
  <dcterms:created xsi:type="dcterms:W3CDTF">2026-05-27T21:30:53Z</dcterms:created>
  <dcterms:modified xsi:type="dcterms:W3CDTF">2026-06-22T18:51:57Z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0x0101001589B0FF50EEEE42992490B27E3F321C</vt:lpwstr>
  </property>
  <property fmtid="{D5CDD505-2E9C-101B-9397-08002B2CF9AE}" pid="3" name="MSIP_Label_ff380b4d-8a71-4241-982c-3816ad3ce8fc_Enabled">
    <vt:lpwstr>true</vt:lpwstr>
  </property>
  <property fmtid="{D5CDD505-2E9C-101B-9397-08002B2CF9AE}" pid="4" name="MSIP_Label_ff380b4d-8a71-4241-982c-3816ad3ce8fc_SetDate">
    <vt:lpwstr>2026-06-22T18:49:09Z</vt:lpwstr>
  </property>
  <property fmtid="{D5CDD505-2E9C-101B-9397-08002B2CF9AE}" pid="5" name="MSIP_Label_ff380b4d-8a71-4241-982c-3816ad3ce8fc_Method">
    <vt:lpwstr>Standard</vt:lpwstr>
  </property>
  <property fmtid="{D5CDD505-2E9C-101B-9397-08002B2CF9AE}" pid="6" name="MSIP_Label_ff380b4d-8a71-4241-982c-3816ad3ce8fc_Name">
    <vt:lpwstr>defa4170-0d19-0005-0004-bc88714345d2</vt:lpwstr>
  </property>
  <property fmtid="{D5CDD505-2E9C-101B-9397-08002B2CF9AE}" pid="7" name="MSIP_Label_ff380b4d-8a71-4241-982c-3816ad3ce8fc_SiteId">
    <vt:lpwstr>eabe64c5-68f5-4a76-8301-9577a679e449</vt:lpwstr>
  </property>
  <property fmtid="{D5CDD505-2E9C-101B-9397-08002B2CF9AE}" pid="8" name="MSIP_Label_ff380b4d-8a71-4241-982c-3816ad3ce8fc_ActionId">
    <vt:lpwstr>b5b45826-6b65-45eb-bbad-ca305dfebda8</vt:lpwstr>
  </property>
  <property fmtid="{D5CDD505-2E9C-101B-9397-08002B2CF9AE}" pid="9" name="MSIP_Label_ff380b4d-8a71-4241-982c-3816ad3ce8fc_ContentBits">
    <vt:lpwstr>0</vt:lpwstr>
  </property>
  <property fmtid="{D5CDD505-2E9C-101B-9397-08002B2CF9AE}" pid="10" name="MSIP_Label_ff380b4d-8a71-4241-982c-3816ad3ce8fc_Tag">
    <vt:lpwstr>50, 3, 0, 1</vt:lpwstr>
  </property>
</Properties>
</file>